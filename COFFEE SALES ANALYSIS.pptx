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400" r:id="rId5"/>
    <p:sldId id="403" r:id="rId6"/>
    <p:sldId id="404" r:id="rId7"/>
    <p:sldId id="405" r:id="rId8"/>
    <p:sldId id="40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1426"/>
    </p:cViewPr>
  </p:sorterViewPr>
  <p:notesViewPr>
    <p:cSldViewPr snapToGrid="0">
      <p:cViewPr varScale="1">
        <p:scale>
          <a:sx n="62" d="100"/>
          <a:sy n="62" d="100"/>
        </p:scale>
        <p:origin x="226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98C0E1-628D-4A29-932B-81EFC1D54B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E1657-5A73-426A-A66E-C4F85559BE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0B55D-A28C-4981-AA30-62D8B2215F35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F12EE-0BCA-4112-A66D-A1C7DDACEE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9303C-1C5B-4166-91D0-954E1FF8A2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1B084-08CE-4CE2-A230-03FB2D2096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25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E07F7-7765-40B0-95C6-6F0178FC4D78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B07EB-3CEE-4B2A-A06F-03C965D4E9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2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FE780-4B97-4708-B97F-94D8ADC6D7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67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15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20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 useBgFill="1">
        <p:nvSpPr>
          <p:cNvPr id="10" name="Title 1">
            <a:extLst>
              <a:ext uri="{FF2B5EF4-FFF2-40B4-BE49-F238E27FC236}">
                <a16:creationId xmlns:a16="http://schemas.microsoft.com/office/drawing/2014/main" id="{E234E1C5-BD1C-4142-BA62-2A1D902B6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3430" y="1762887"/>
            <a:ext cx="7665140" cy="2140251"/>
          </a:xfrm>
        </p:spPr>
        <p:txBody>
          <a:bodyPr tIns="365760" anchor="ctr">
            <a:normAutofit/>
          </a:bodyPr>
          <a:lstStyle>
            <a:lvl1pPr algn="ctr">
              <a:defRPr sz="5400"/>
            </a:lvl1pPr>
          </a:lstStyle>
          <a:p>
            <a:r>
              <a:rPr lang="en-US" sz="4800"/>
              <a:t>Click to edit Master title style</a:t>
            </a:r>
            <a:endParaRPr lang="en-US" sz="4800" dirty="0"/>
          </a:p>
        </p:txBody>
      </p:sp>
      <p:sp useBgFill="1">
        <p:nvSpPr>
          <p:cNvPr id="12" name="Subtitle 2" descr="Tag=AccentColor&#10;Flavor=Light&#10;Target=Text">
            <a:extLst>
              <a:ext uri="{FF2B5EF4-FFF2-40B4-BE49-F238E27FC236}">
                <a16:creationId xmlns:a16="http://schemas.microsoft.com/office/drawing/2014/main" id="{DED57426-1707-4704-8E09-2F7609051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430" y="3903138"/>
            <a:ext cx="7665139" cy="119197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30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2FCC-99C4-4C2B-99B4-9C5E13D5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975" y="782122"/>
            <a:ext cx="3619500" cy="2492828"/>
          </a:xfrm>
        </p:spPr>
        <p:txBody>
          <a:bodyPr anchor="b"/>
          <a:lstStyle>
            <a:lvl1pPr algn="l">
              <a:spcBef>
                <a:spcPts val="960"/>
              </a:spcBef>
              <a:spcAft>
                <a:spcPts val="600"/>
              </a:spcAft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740" y="0"/>
            <a:ext cx="3754712" cy="267544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B5F49914-A317-424F-9214-203370D767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9972" y="0"/>
            <a:ext cx="3793815" cy="267544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B68EE34D-80C0-4CEE-99D1-3C91F6626D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740" y="2675444"/>
            <a:ext cx="7543904" cy="4182556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5E34894-A499-4CC3-9F3E-BB0B1268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000749"/>
            <a:ext cx="66728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F37D4A7-7BA4-4331-82C1-818D1B5B05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42275" y="3592286"/>
            <a:ext cx="3619500" cy="199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87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335" y="1233378"/>
            <a:ext cx="5697102" cy="1405366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3795" y="3002281"/>
            <a:ext cx="5686437" cy="2271393"/>
          </a:xfrm>
        </p:spPr>
        <p:txBody>
          <a:bodyPr anchor="t">
            <a:normAutofit/>
          </a:bodyPr>
          <a:lstStyle>
            <a:lvl1pPr marL="0" indent="0" algn="ctr">
              <a:buNone/>
              <a:defRPr lang="en-US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3FCD85-64A9-4257-8703-568A1629E1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96864" y="0"/>
            <a:ext cx="457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47AB1B-8039-41F6-A255-B03F33FB6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8FC98-420D-47E9-A6BF-65337349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16EE41C-5E1E-448A-AC09-A8C32B4A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7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4913529"/>
            <a:ext cx="9440034" cy="6806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9CC1453-4E18-4960-B6D5-529F625B9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5713343"/>
            <a:ext cx="9440034" cy="436942"/>
          </a:xfrm>
        </p:spPr>
        <p:txBody>
          <a:bodyPr/>
          <a:lstStyle>
            <a:lvl1pPr marL="36900" indent="0" algn="ctr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DDA07CD-6F66-4875-B1ED-5D11B9642B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2938" y="642938"/>
            <a:ext cx="5130800" cy="33035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E1CB1643-335F-4FF9-8A42-C565276130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17733" y="642937"/>
            <a:ext cx="5130800" cy="33035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843549-5E1B-48B7-A510-624588410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B5FF67-7EEC-4AB0-8445-132F9992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1609536"/>
            <a:ext cx="0" cy="1371600"/>
          </a:xfrm>
          <a:prstGeom prst="line">
            <a:avLst/>
          </a:prstGeom>
          <a:ln w="19050">
            <a:solidFill>
              <a:schemeClr val="tx1">
                <a:lumMod val="7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17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, table,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90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754A53-50F5-4BFC-9D4B-69FF19B57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E3AA4C-F452-4742-B62F-D92ACEB05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948" y="1233378"/>
            <a:ext cx="5441285" cy="291190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4A6F582-B177-429F-8965-8FC2335DB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948" y="4495800"/>
            <a:ext cx="5441286" cy="777874"/>
          </a:xfrm>
        </p:spPr>
        <p:txBody>
          <a:bodyPr/>
          <a:lstStyle>
            <a:lvl1pPr marL="36900" indent="0" algn="ctr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08956-7306-4C30-B1DF-68E2666A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6" y="6000749"/>
            <a:ext cx="5686438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5FA9922-F4B7-458A-B446-58C5673A30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48600" y="642938"/>
            <a:ext cx="3700463" cy="26257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A931B751-CD27-4E96-B65A-1D983D2650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48600" y="3600901"/>
            <a:ext cx="3700463" cy="26257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80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B87676-021D-46A4-8D5E-AAB45A5F2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053" y="2057400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E2461C8-280B-42BE-8793-5F1B2C4C0A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796" y="2327275"/>
            <a:ext cx="1827818" cy="2181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56D654-5693-4897-AD58-F42CEECEC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52764" y="2057400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7D5C18-F020-4168-9A98-D4162006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5475" y="2057400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9BC3A-55C2-47AD-93E5-368070939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8186" y="2043502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E249A1C0-506E-4C49-A763-DA0BF00B5A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8593" y="2327275"/>
            <a:ext cx="1827818" cy="2181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C9B12B3E-6E6A-4B9F-BCDC-ABAB3007AE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1305" y="2327275"/>
            <a:ext cx="1827818" cy="2181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61CEF8D-8303-439E-BDF8-3983FAE33E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04015" y="2327275"/>
            <a:ext cx="1827818" cy="2181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4BDD0E13-DDEB-44F9-8676-F70405015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05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7">
            <a:extLst>
              <a:ext uri="{FF2B5EF4-FFF2-40B4-BE49-F238E27FC236}">
                <a16:creationId xmlns:a16="http://schemas.microsoft.com/office/drawing/2014/main" id="{51948158-9C97-4517-B0D3-4085249937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05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7">
            <a:extLst>
              <a:ext uri="{FF2B5EF4-FFF2-40B4-BE49-F238E27FC236}">
                <a16:creationId xmlns:a16="http://schemas.microsoft.com/office/drawing/2014/main" id="{CA53CE84-6890-4263-ABB8-F39819C6A4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76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2C891989-38F5-4F8A-AD02-DBBD0666D1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5276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7">
            <a:extLst>
              <a:ext uri="{FF2B5EF4-FFF2-40B4-BE49-F238E27FC236}">
                <a16:creationId xmlns:a16="http://schemas.microsoft.com/office/drawing/2014/main" id="{470811B1-7881-44B2-88EA-0D7D0EE5CB0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4547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7">
            <a:extLst>
              <a:ext uri="{FF2B5EF4-FFF2-40B4-BE49-F238E27FC236}">
                <a16:creationId xmlns:a16="http://schemas.microsoft.com/office/drawing/2014/main" id="{42DCE357-186A-457C-951C-49B33EE59F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547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7">
            <a:extLst>
              <a:ext uri="{FF2B5EF4-FFF2-40B4-BE49-F238E27FC236}">
                <a16:creationId xmlns:a16="http://schemas.microsoft.com/office/drawing/2014/main" id="{125640C8-2610-4EE2-B7DB-43B69762CA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818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7">
            <a:extLst>
              <a:ext uri="{FF2B5EF4-FFF2-40B4-BE49-F238E27FC236}">
                <a16:creationId xmlns:a16="http://schemas.microsoft.com/office/drawing/2014/main" id="{A681FDE6-437A-4435-B435-9E095137BA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3818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00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7B721FF-D609-4D98-9D19-CF75AA8A5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3936BD-C868-433F-8E84-D6DD8E64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28224A9-CB7A-4D21-8CA0-38125E29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26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7B721FF-D609-4D98-9D19-CF75AA8A5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040" y="1734506"/>
            <a:ext cx="3359592" cy="4099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3936BD-C868-433F-8E84-D6DD8E64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204" y="1734506"/>
            <a:ext cx="3359592" cy="40999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623" y="1855153"/>
            <a:ext cx="318294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1623" y="2702103"/>
            <a:ext cx="318294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9579" y="1855152"/>
            <a:ext cx="3192843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9579" y="2702103"/>
            <a:ext cx="3192842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B356B5-0EDC-4245-8878-C19DA25A3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04" y="1734506"/>
            <a:ext cx="3359592" cy="4099959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56C3DD2-AE94-4BA5-920E-A7EEE1929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35279" y="1855152"/>
            <a:ext cx="3192843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04BCB055-753B-4006-BF3C-73FC5A3C25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35279" y="2702103"/>
            <a:ext cx="3192842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E1D954F-2A50-4751-9E47-BB4B7BD6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162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FDB9BCB-0C27-46E1-90C0-AADF00541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9441" y="1233378"/>
            <a:ext cx="5898114" cy="1357422"/>
          </a:xfrm>
        </p:spPr>
        <p:txBody>
          <a:bodyPr anchor="b">
            <a:noAutofit/>
          </a:bodyPr>
          <a:lstStyle>
            <a:lvl1pPr algn="ctr">
              <a:defRPr lang="en-US" sz="4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 descr="Tag=AccentColor&#10;Flavor=Light&#10;Target=Text">
            <a:extLst>
              <a:ext uri="{FF2B5EF4-FFF2-40B4-BE49-F238E27FC236}">
                <a16:creationId xmlns:a16="http://schemas.microsoft.com/office/drawing/2014/main" id="{61821B46-FA47-4BEB-A735-3A8E1161FD7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369440" y="2895601"/>
            <a:ext cx="5898115" cy="2378074"/>
          </a:xfrm>
        </p:spPr>
        <p:txBody>
          <a:bodyPr>
            <a:normAutofit/>
          </a:bodyPr>
          <a:lstStyle>
            <a:lvl1pPr marL="36900" indent="0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F220894-C699-4E12-9EB4-2318F23E4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1113" y="0"/>
            <a:ext cx="4583113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03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6676" y="1572884"/>
            <a:ext cx="4100417" cy="2585050"/>
          </a:xfrm>
        </p:spPr>
        <p:txBody>
          <a:bodyPr lIns="274320" anchor="ctr">
            <a:normAutofit/>
          </a:bodyPr>
          <a:lstStyle>
            <a:lvl1pPr algn="l">
              <a:defRPr lang="en-US" sz="4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 useBgFill="1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675" y="4157934"/>
            <a:ext cx="4100418" cy="1446364"/>
          </a:xfrm>
        </p:spPr>
        <p:txBody>
          <a:bodyPr lIns="274320" anchor="t">
            <a:normAutofit/>
          </a:bodyPr>
          <a:lstStyle>
            <a:lvl1pPr marL="342900" indent="-306000" algn="l" defTabSz="4572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lang="en-US" sz="16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25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5218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1" r:id="rId2"/>
    <p:sldLayoutId id="2147483679" r:id="rId3"/>
    <p:sldLayoutId id="2147483664" r:id="rId4"/>
    <p:sldLayoutId id="2147483660" r:id="rId5"/>
    <p:sldLayoutId id="2147483677" r:id="rId6"/>
    <p:sldLayoutId id="2147483678" r:id="rId7"/>
    <p:sldLayoutId id="2147483663" r:id="rId8"/>
    <p:sldLayoutId id="2147483676" r:id="rId9"/>
    <p:sldLayoutId id="2147483680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 descr="A picture containing wall, wooden, indoor, table">
            <a:extLst>
              <a:ext uri="{FF2B5EF4-FFF2-40B4-BE49-F238E27FC236}">
                <a16:creationId xmlns:a16="http://schemas.microsoft.com/office/drawing/2014/main" id="{E2888B94-BE50-4E48-8F75-1E8AAD5AFA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 useBgFill="1">
        <p:nvSpPr>
          <p:cNvPr id="18" name="Title 17">
            <a:extLst>
              <a:ext uri="{FF2B5EF4-FFF2-40B4-BE49-F238E27FC236}">
                <a16:creationId xmlns:a16="http://schemas.microsoft.com/office/drawing/2014/main" id="{7F1C1DC8-8566-416D-A699-06A29F45B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3429" y="1762887"/>
            <a:ext cx="9474301" cy="2140251"/>
          </a:xfrm>
        </p:spPr>
        <p:txBody>
          <a:bodyPr/>
          <a:lstStyle/>
          <a:p>
            <a:r>
              <a:rPr lang="en-US" dirty="0"/>
              <a:t>COFFEE SALES ANALYSIS </a:t>
            </a:r>
          </a:p>
        </p:txBody>
      </p:sp>
      <p:sp useBgFill="1">
        <p:nvSpPr>
          <p:cNvPr id="19" name="Subtitle 18">
            <a:extLst>
              <a:ext uri="{FF2B5EF4-FFF2-40B4-BE49-F238E27FC236}">
                <a16:creationId xmlns:a16="http://schemas.microsoft.com/office/drawing/2014/main" id="{B032DA7C-C3AD-4A99-8801-152FB4EE9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430" y="3903138"/>
            <a:ext cx="7665139" cy="1191977"/>
          </a:xfrm>
        </p:spPr>
        <p:txBody>
          <a:bodyPr/>
          <a:lstStyle/>
          <a:p>
            <a:r>
              <a:rPr lang="en-US" dirty="0"/>
              <a:t>BY EXCEL</a:t>
            </a:r>
          </a:p>
        </p:txBody>
      </p:sp>
    </p:spTree>
    <p:extLst>
      <p:ext uri="{BB962C8B-B14F-4D97-AF65-F5344CB8AC3E}">
        <p14:creationId xmlns:p14="http://schemas.microsoft.com/office/powerpoint/2010/main" val="319640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3965" y="1851007"/>
            <a:ext cx="4704950" cy="1041828"/>
          </a:xfrm>
        </p:spPr>
        <p:txBody>
          <a:bodyPr>
            <a:normAutofit/>
          </a:bodyPr>
          <a:lstStyle/>
          <a:p>
            <a:r>
              <a:rPr lang="en-US" sz="3600" dirty="0"/>
              <a:t>OBJECTIVES</a:t>
            </a:r>
          </a:p>
        </p:txBody>
      </p:sp>
      <p:sp>
        <p:nvSpPr>
          <p:cNvPr id="3" name="Subtitle 2" descr="Tag=AccentColor&#10;Flavor=Light&#10;Target=Text"/>
          <p:cNvSpPr>
            <a:spLocks noGrp="1"/>
          </p:cNvSpPr>
          <p:nvPr>
            <p:ph type="subTitle" idx="1"/>
          </p:nvPr>
        </p:nvSpPr>
        <p:spPr>
          <a:xfrm>
            <a:off x="913795" y="3002281"/>
            <a:ext cx="6392613" cy="2271393"/>
          </a:xfrm>
        </p:spPr>
        <p:txBody>
          <a:bodyPr>
            <a:normAutofit/>
          </a:bodyPr>
          <a:lstStyle/>
          <a:p>
            <a:r>
              <a:rPr lang="en-US" dirty="0"/>
              <a:t>The main objective of this project is to analyze retail sales data to gain actionable insights that will enhance the performance of the Coffee Shop.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9D54D5B-AC4B-4406-96BC-DBEEF764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000749"/>
            <a:ext cx="66728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8A8C9A28-A876-4575-8501-8E5F69D8D2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ED457A1-2E40-4C44-A232-BAF8CDEB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97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280" y="2398298"/>
            <a:ext cx="5223696" cy="494537"/>
          </a:xfrm>
        </p:spPr>
        <p:txBody>
          <a:bodyPr>
            <a:noAutofit/>
          </a:bodyPr>
          <a:lstStyle/>
          <a:p>
            <a:r>
              <a:rPr lang="en-US" sz="3600" dirty="0"/>
              <a:t>Recommended Analysis</a:t>
            </a:r>
          </a:p>
        </p:txBody>
      </p:sp>
      <p:sp>
        <p:nvSpPr>
          <p:cNvPr id="3" name="Subtitle 2" descr="Tag=AccentColor&#10;Flavor=Light&#10;Target=Text"/>
          <p:cNvSpPr>
            <a:spLocks noGrp="1"/>
          </p:cNvSpPr>
          <p:nvPr>
            <p:ph type="subTitle" idx="1"/>
          </p:nvPr>
        </p:nvSpPr>
        <p:spPr>
          <a:xfrm>
            <a:off x="843457" y="3063827"/>
            <a:ext cx="6392613" cy="2271393"/>
          </a:xfrm>
        </p:spPr>
        <p:txBody>
          <a:bodyPr>
            <a:normAutofit fontScale="6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How do sales vary by day of the week and hour of the day?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Are there any peak times for sales activity?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What is the total sales revenue for each month?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How do sales vary across different store locations?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 what is the average price/order per person 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Which products are the best selling in terms of quantity and revenue?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 How do sales vary by product category and type</a:t>
            </a:r>
            <a:endParaRPr lang="en-US" sz="2800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9D54D5B-AC4B-4406-96BC-DBEEF7645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000749"/>
            <a:ext cx="66728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8A8C9A28-A876-4575-8501-8E5F69D8D2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1ED457A1-2E40-4C44-A232-BAF8CDEB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53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8731-102E-4C9C-AA0E-D92188762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046" y="116755"/>
            <a:ext cx="8862646" cy="463537"/>
          </a:xfrm>
        </p:spPr>
        <p:txBody>
          <a:bodyPr/>
          <a:lstStyle/>
          <a:p>
            <a:r>
              <a:rPr lang="en-US" sz="2800" dirty="0"/>
              <a:t>Key business insights derived from the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BB843-CE64-45D0-875D-ADDE8973B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07" y="742658"/>
            <a:ext cx="11834445" cy="5790027"/>
          </a:xfrm>
        </p:spPr>
        <p:txBody>
          <a:bodyPr>
            <a:normAutofit/>
          </a:bodyPr>
          <a:lstStyle/>
          <a:p>
            <a:pPr marL="1657350" lvl="3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Strong Monthly Growth Pattern</a:t>
            </a:r>
            <a:br>
              <a:rPr lang="en-US" sz="1800" dirty="0"/>
            </a:br>
            <a:r>
              <a:rPr lang="en-US" sz="1800" dirty="0"/>
              <a:t>Monthly revenue increases steadily from January to June, indicating rising customer demand and successful product-market fit. May and June show the highest sales, suggesting seasonal or promotional impacts.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/>
              <a:t>Peak Selling Days</a:t>
            </a:r>
            <a:br>
              <a:rPr lang="en-US" sz="1800" dirty="0"/>
            </a:br>
            <a:r>
              <a:rPr lang="en-US" sz="1800" dirty="0"/>
              <a:t>Sales remain relatively consistent through the week, but </a:t>
            </a:r>
            <a:r>
              <a:rPr lang="en-US" sz="1800" b="1" dirty="0"/>
              <a:t>Thursday, Friday, and Monday</a:t>
            </a:r>
            <a:r>
              <a:rPr lang="en-US" sz="1800" dirty="0"/>
              <a:t> record slightly higher total bills. Weekend traffic is stable but not significantly higher, showing weekday-driven coffee demand.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/>
              <a:t>High-Performing Hours</a:t>
            </a:r>
            <a:br>
              <a:rPr lang="en-US" sz="1800" dirty="0"/>
            </a:br>
            <a:r>
              <a:rPr lang="en-US" sz="1800" dirty="0"/>
              <a:t>Hourly quantity trends show a clear </a:t>
            </a:r>
            <a:r>
              <a:rPr lang="en-US" sz="1800" b="1" dirty="0"/>
              <a:t>morning-to-midday peak</a:t>
            </a:r>
            <a:r>
              <a:rPr lang="en-US" sz="1800" dirty="0"/>
              <a:t>, with the strongest sales between </a:t>
            </a:r>
            <a:r>
              <a:rPr lang="en-US" sz="1800" b="1" dirty="0"/>
              <a:t>8 AM and 12 PM</a:t>
            </a:r>
            <a:r>
              <a:rPr lang="en-US" sz="1800" dirty="0"/>
              <a:t>, matching typical coffee consumer behavior. A gradual decline after afternoon hours indicates limited evening demand.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b="1" dirty="0"/>
              <a:t>Top Revenue-Generating Product Types</a:t>
            </a:r>
            <a:endParaRPr lang="en-US" sz="18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1" dirty="0"/>
              <a:t>Brewed Coffee</a:t>
            </a:r>
            <a:r>
              <a:rPr lang="en-US" dirty="0"/>
              <a:t> and </a:t>
            </a:r>
            <a:r>
              <a:rPr lang="en-US" b="1" dirty="0"/>
              <a:t>Blac/Brewed</a:t>
            </a:r>
            <a:r>
              <a:rPr lang="en-US" dirty="0"/>
              <a:t> contribute the highest revenue.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1" dirty="0"/>
              <a:t>Barista Espresso</a:t>
            </a:r>
            <a:r>
              <a:rPr lang="en-US" dirty="0"/>
              <a:t> and </a:t>
            </a:r>
            <a:r>
              <a:rPr lang="en-US" b="1" dirty="0"/>
              <a:t>Hot Chocolate</a:t>
            </a:r>
            <a:r>
              <a:rPr lang="en-US" dirty="0"/>
              <a:t> generate moderate revenue.</a:t>
            </a:r>
            <a:br>
              <a:rPr lang="en-US" dirty="0"/>
            </a:br>
            <a:r>
              <a:rPr lang="en-US" dirty="0"/>
              <a:t>Product strategy should continue prioritizing brewed items while promoting premium add-ons for margin improvement.</a:t>
            </a:r>
          </a:p>
          <a:p>
            <a:endParaRPr lang="en-US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9A135-FF93-4821-9450-BAB6929C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035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8731-102E-4C9C-AA0E-D92188762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046" y="116755"/>
            <a:ext cx="8862646" cy="463537"/>
          </a:xfrm>
        </p:spPr>
        <p:txBody>
          <a:bodyPr/>
          <a:lstStyle/>
          <a:p>
            <a:r>
              <a:rPr lang="en-US" sz="2800" dirty="0"/>
              <a:t>Key business insights derived from the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BB843-CE64-45D0-875D-ADDE8973B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07" y="742658"/>
            <a:ext cx="11834445" cy="5790027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Product Detail Performance</a:t>
            </a:r>
            <a:br>
              <a:rPr lang="en-US" dirty="0"/>
            </a:br>
            <a:r>
              <a:rPr lang="en-US" sz="1600" dirty="0"/>
              <a:t>Ethiopian and Brazilian variants generate the highest total bills,                                                                                                   indicating strong customer preference for premium and origin-specific beans</a:t>
            </a:r>
            <a:r>
              <a:rPr lang="en-US" dirty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dirty="0"/>
              <a:t>Category Contribution</a:t>
            </a:r>
            <a:r>
              <a:rPr lang="en-US" sz="1600" dirty="0"/>
              <a:t> </a:t>
            </a:r>
            <a:r>
              <a:rPr lang="en-US" sz="1600" b="1" dirty="0"/>
              <a:t>Coffee</a:t>
            </a:r>
            <a:r>
              <a:rPr lang="en-US" sz="1600" dirty="0"/>
              <a:t>                                                                                                                                                            accounts for the largest revenue share at </a:t>
            </a:r>
            <a:r>
              <a:rPr lang="en-US" sz="1600" b="1" dirty="0"/>
              <a:t>41%</a:t>
            </a:r>
            <a:r>
              <a:rPr lang="en-US" sz="1600" dirty="0"/>
              <a:t>.</a:t>
            </a:r>
            <a:r>
              <a:rPr lang="en-US" sz="1600" b="1" dirty="0"/>
              <a:t>Tea</a:t>
            </a:r>
            <a:r>
              <a:rPr lang="en-US" sz="1600" dirty="0"/>
              <a:t> contributes </a:t>
            </a:r>
            <a:r>
              <a:rPr lang="en-US" sz="1600" b="1" dirty="0"/>
              <a:t>30%</a:t>
            </a:r>
            <a:r>
              <a:rPr lang="en-US" sz="1600" dirty="0"/>
              <a:t>,                                                                                                 showing strong secondary </a:t>
            </a:r>
            <a:r>
              <a:rPr lang="en-US" sz="1600" dirty="0" err="1"/>
              <a:t>demand.Drinking</a:t>
            </a:r>
            <a:r>
              <a:rPr lang="en-US" sz="1600" dirty="0"/>
              <a:t> chocolate and bakery have smaller shares but present cross-selling opportunities</a:t>
            </a:r>
            <a:r>
              <a:rPr lang="en-US" dirty="0"/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dirty="0"/>
              <a:t>Size Preferences</a:t>
            </a:r>
            <a:br>
              <a:rPr lang="en-US" sz="1600" dirty="0"/>
            </a:br>
            <a:r>
              <a:rPr lang="en-US" sz="1600" dirty="0"/>
              <a:t>Regular (31%) and small sizes (28%) </a:t>
            </a:r>
            <a:r>
              <a:rPr lang="en-US" sz="1600" dirty="0" err="1"/>
              <a:t>dominate,while</a:t>
            </a:r>
            <a:r>
              <a:rPr lang="en-US" sz="1600" dirty="0"/>
              <a:t> large sizes (34%) also have significant share.                                               Balanced size distribution suggests price-sensitive but flexible customer behavior.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Store Location </a:t>
            </a:r>
            <a:r>
              <a:rPr lang="en-US" sz="1400" b="1" dirty="0" err="1"/>
              <a:t>Performace</a:t>
            </a:r>
            <a:r>
              <a:rPr lang="en-US" sz="1400" b="1" dirty="0"/>
              <a:t>                                                                                                                                                                                                                     Hell’s Kitchen</a:t>
            </a:r>
            <a:r>
              <a:rPr lang="en-US" sz="1400" dirty="0"/>
              <a:t> is the best-performing location with the highest total bill.                                                                                                                                                       indicating higher footfall or higher spending per customer.                                                                                                                                                       </a:t>
            </a:r>
            <a:r>
              <a:rPr lang="en-US" sz="1400" b="1" dirty="0"/>
              <a:t>Astoria</a:t>
            </a:r>
            <a:r>
              <a:rPr lang="en-US" sz="1400" dirty="0"/>
              <a:t> and </a:t>
            </a:r>
            <a:r>
              <a:rPr lang="en-US" sz="1400" b="1" dirty="0"/>
              <a:t>Lower Manhattan</a:t>
            </a:r>
            <a:r>
              <a:rPr lang="en-US" sz="1400" dirty="0"/>
              <a:t> generate moderate revenue, reflecting potential for marketing or product mix optimization.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1" dirty="0"/>
              <a:t>Customer Spend Behavior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sz="1600" dirty="0"/>
              <a:t>Average bill per person: </a:t>
            </a:r>
            <a:r>
              <a:rPr lang="en-US" sz="1600" b="1" dirty="0"/>
              <a:t>4.69</a:t>
            </a:r>
            <a:r>
              <a:rPr lang="en-US" sz="1600" dirty="0"/>
              <a:t>Average order size: </a:t>
            </a:r>
            <a:r>
              <a:rPr lang="en-US" sz="1600" b="1" dirty="0"/>
              <a:t>1.44 items</a:t>
            </a:r>
            <a:br>
              <a:rPr lang="en-US" sz="1600" dirty="0"/>
            </a:br>
            <a:r>
              <a:rPr lang="en-US" sz="1600" dirty="0"/>
              <a:t>This suggests customers typically purchase one primary item;  upsell opportunities exist for bakery and addon items.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Overall Business Health</a:t>
            </a:r>
            <a:br>
              <a:rPr lang="en-US" sz="1400" dirty="0"/>
            </a:br>
            <a:r>
              <a:rPr lang="en-US" sz="1400" dirty="0"/>
              <a:t>Total sales: </a:t>
            </a:r>
            <a:r>
              <a:rPr lang="en-US" sz="1400" b="1" dirty="0"/>
              <a:t>$698,812</a:t>
            </a:r>
            <a:r>
              <a:rPr lang="en-US" sz="1400" dirty="0"/>
              <a:t> and footfall of </a:t>
            </a:r>
            <a:r>
              <a:rPr lang="en-US" sz="1400" b="1" dirty="0"/>
              <a:t>149,116</a:t>
            </a:r>
            <a:r>
              <a:rPr lang="en-US" sz="1400" dirty="0"/>
              <a:t> reflect a healthy customer base with consistent engagement. Growth across months and strong weekday performance indicate stable demand patterns</a:t>
            </a: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9A135-FF93-4821-9450-BAB6929C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98E045-D202-4D9C-A73D-CBCD89E61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48" y="4357272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4B047A8-3A1E-46A9-8251-547D46AB3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5" y="457197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2F65ADA0-4170-4482-9ACC-E006D1BFE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238" y="4387307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6472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0EF115D-73C4-4C20-A44F-97481CD74C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D2C913-C7E9-427D-8C7B-4D2DB36F60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06F3F2-9398-47DD-B339-5E062F7F29B5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Coffee corner design</Template>
  <TotalTime>75</TotalTime>
  <Words>496</Words>
  <Application>Microsoft Office PowerPoint</Application>
  <PresentationFormat>Widescreen</PresentationFormat>
  <Paragraphs>41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Calisto MT</vt:lpstr>
      <vt:lpstr>Wingdings 2</vt:lpstr>
      <vt:lpstr>SlateVTI</vt:lpstr>
      <vt:lpstr>COFFEE SALES ANALYSIS </vt:lpstr>
      <vt:lpstr>OBJECTIVES</vt:lpstr>
      <vt:lpstr>Recommended Analysis</vt:lpstr>
      <vt:lpstr>Key business insights derived from the dashboard</vt:lpstr>
      <vt:lpstr>Key business insights derived from the dashboard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SALES ANALYSIS</dc:title>
  <dc:creator>VARUN MATHUR</dc:creator>
  <cp:lastModifiedBy>VARUN MATHUR</cp:lastModifiedBy>
  <cp:revision>6</cp:revision>
  <dcterms:created xsi:type="dcterms:W3CDTF">2025-11-09T18:08:04Z</dcterms:created>
  <dcterms:modified xsi:type="dcterms:W3CDTF">2025-11-09T19:26:16Z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